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40"/>
  </p:normalViewPr>
  <p:slideViewPr>
    <p:cSldViewPr snapToGrid="0" snapToObjects="1">
      <p:cViewPr varScale="1">
        <p:scale>
          <a:sx n="107" d="100"/>
          <a:sy n="107" d="100"/>
        </p:scale>
        <p:origin x="73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9A8C-FC98-4DAA-50ED-3B886CDA3D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8035BD-7E11-12B7-6B91-5AEB09DF3A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CD19A7-C4F0-9663-D153-0709D98351B0}"/>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5" name="Footer Placeholder 4">
            <a:extLst>
              <a:ext uri="{FF2B5EF4-FFF2-40B4-BE49-F238E27FC236}">
                <a16:creationId xmlns:a16="http://schemas.microsoft.com/office/drawing/2014/main" id="{868A0E53-494F-3D30-183A-955DF1A269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820AF-077F-7B4E-DD1C-C70E1068990E}"/>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1302656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40E3-8FA0-91EB-0B90-1454E1BABD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A95D92-A15E-EC42-42E4-41764252F2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F664A3-3C82-12ED-C4D3-410764157CBA}"/>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5" name="Footer Placeholder 4">
            <a:extLst>
              <a:ext uri="{FF2B5EF4-FFF2-40B4-BE49-F238E27FC236}">
                <a16:creationId xmlns:a16="http://schemas.microsoft.com/office/drawing/2014/main" id="{12FCA3DA-80DD-289F-A997-B55DA15AF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6E53CF-A4E6-789B-EEBC-328DC2DEC24F}"/>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160496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98919-67FD-5203-2699-A11568561E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00D91B-F885-14F6-1734-93E621AE3D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CC9AA5-79BA-A82E-ADF6-8761E61D5CBF}"/>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5" name="Footer Placeholder 4">
            <a:extLst>
              <a:ext uri="{FF2B5EF4-FFF2-40B4-BE49-F238E27FC236}">
                <a16:creationId xmlns:a16="http://schemas.microsoft.com/office/drawing/2014/main" id="{A561A585-D0BD-FA2A-A494-CDB07EB94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AA493-DACA-9502-DDAB-87185E386344}"/>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4272945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5C10-28DB-649D-EF05-C16EF65388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39DD1A-9D6A-B758-1BD3-79C0EB1276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01387E-D8B4-F0E2-D0F4-03105A1D65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EB9C1F-44A1-6E07-4B50-866AD99F763C}"/>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6" name="Footer Placeholder 5">
            <a:extLst>
              <a:ext uri="{FF2B5EF4-FFF2-40B4-BE49-F238E27FC236}">
                <a16:creationId xmlns:a16="http://schemas.microsoft.com/office/drawing/2014/main" id="{A28E0209-DFF5-2121-95F7-D6D46A0B61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107F30-D92A-7656-5A03-7926D2C83B94}"/>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1979696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6083-6DCC-C1DC-2DD4-F4CF2FE93B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930B2D-58C7-8BE2-E67B-54823126E1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B7D0DC-D899-8EBA-E509-27123AB463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5D7091-C1A0-205E-B14D-BC6636A88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9FCA22-084D-E248-B33A-FAB6650DF8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2B97EA-DA67-99E5-1281-5DBB7E7D4208}"/>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8" name="Footer Placeholder 7">
            <a:extLst>
              <a:ext uri="{FF2B5EF4-FFF2-40B4-BE49-F238E27FC236}">
                <a16:creationId xmlns:a16="http://schemas.microsoft.com/office/drawing/2014/main" id="{48CAA7BF-383C-135F-1684-A2AF4DB335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3367F3-1C41-A5F6-7551-561F77829AA2}"/>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2452870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A79F-2A55-D7DF-E2A8-251753BA7F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01D9CC-F4DC-AF4E-A94B-D963D18EDA7E}"/>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4" name="Footer Placeholder 3">
            <a:extLst>
              <a:ext uri="{FF2B5EF4-FFF2-40B4-BE49-F238E27FC236}">
                <a16:creationId xmlns:a16="http://schemas.microsoft.com/office/drawing/2014/main" id="{DC39FFCD-C0BD-353B-FBE4-39298692BC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7DB809-1240-5574-F7C6-4CB43AD52B32}"/>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1213930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5DC54A-68B9-C126-4B87-FEDBA13FAA30}"/>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3" name="Footer Placeholder 2">
            <a:extLst>
              <a:ext uri="{FF2B5EF4-FFF2-40B4-BE49-F238E27FC236}">
                <a16:creationId xmlns:a16="http://schemas.microsoft.com/office/drawing/2014/main" id="{6AD67FB9-12A7-5DC8-C5D4-3E7A9BFFD1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9BE3C6-560D-F540-4654-60767A468344}"/>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1871519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F504D-D9BF-8A11-E9E2-C2126A418E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0E96E2-AE3C-F8DA-F2FC-73C776EFF4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D6DEB9-DCF1-190F-9291-17D831074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E08A65-5CEC-BBB5-E923-88882672C1BA}"/>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6" name="Footer Placeholder 5">
            <a:extLst>
              <a:ext uri="{FF2B5EF4-FFF2-40B4-BE49-F238E27FC236}">
                <a16:creationId xmlns:a16="http://schemas.microsoft.com/office/drawing/2014/main" id="{56B50BF8-0CAA-B422-1F04-581467FA3B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6A6D9C-409F-D3D0-5973-89DECBF0E49F}"/>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2546733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8DC7-9225-198A-DC69-7A6DEF9473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CAEE84-30FF-95D7-5587-89FE711C6E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1D14C4-8511-7011-100D-AFDBC14A8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3E2C4E-B049-2DB0-18F4-1145910BD2E2}"/>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6" name="Footer Placeholder 5">
            <a:extLst>
              <a:ext uri="{FF2B5EF4-FFF2-40B4-BE49-F238E27FC236}">
                <a16:creationId xmlns:a16="http://schemas.microsoft.com/office/drawing/2014/main" id="{7490DB3C-DBDB-F6C6-7195-C71EE0EF67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DF097F-7702-EEEE-2F02-031C1DBA7F13}"/>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398313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90CC7-0FE5-4AD2-6298-5D635630C9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B39A192-6034-7CD6-B136-8737A828CC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3257AA-4F1A-C6B1-D1D4-AEC973EFAE58}"/>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5" name="Footer Placeholder 4">
            <a:extLst>
              <a:ext uri="{FF2B5EF4-FFF2-40B4-BE49-F238E27FC236}">
                <a16:creationId xmlns:a16="http://schemas.microsoft.com/office/drawing/2014/main" id="{784C46E9-D982-C590-A553-8153949F88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DF521-F33A-2DE4-DA71-94519427B2B3}"/>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875457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2190B-57FC-3224-B91C-F38CF17670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720758-D1FB-6C25-28C8-BC3606C2E4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41E653-858B-C09A-1046-8345E59AE2E0}"/>
              </a:ext>
            </a:extLst>
          </p:cNvPr>
          <p:cNvSpPr>
            <a:spLocks noGrp="1"/>
          </p:cNvSpPr>
          <p:nvPr>
            <p:ph type="dt" sz="half" idx="10"/>
          </p:nvPr>
        </p:nvSpPr>
        <p:spPr/>
        <p:txBody>
          <a:bodyPr/>
          <a:lstStyle/>
          <a:p>
            <a:fld id="{50A42DFB-F8C0-7540-8EDF-D48D87C2B67A}" type="datetimeFigureOut">
              <a:rPr lang="en-US" smtClean="0"/>
              <a:t>7/19/22</a:t>
            </a:fld>
            <a:endParaRPr lang="en-US"/>
          </a:p>
        </p:txBody>
      </p:sp>
      <p:sp>
        <p:nvSpPr>
          <p:cNvPr id="5" name="Footer Placeholder 4">
            <a:extLst>
              <a:ext uri="{FF2B5EF4-FFF2-40B4-BE49-F238E27FC236}">
                <a16:creationId xmlns:a16="http://schemas.microsoft.com/office/drawing/2014/main" id="{A1C55597-8D80-A666-8D0F-1263B9A9A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94C6FC-870E-A0E0-D0B9-03B264A7BBA9}"/>
              </a:ext>
            </a:extLst>
          </p:cNvPr>
          <p:cNvSpPr>
            <a:spLocks noGrp="1"/>
          </p:cNvSpPr>
          <p:nvPr>
            <p:ph type="sldNum" sz="quarter" idx="12"/>
          </p:nvPr>
        </p:nvSpPr>
        <p:spPr/>
        <p:txBody>
          <a:bodyPr/>
          <a:lstStyle/>
          <a:p>
            <a:fld id="{2E71E411-7990-DD46-A30E-511389BB90F1}" type="slidenum">
              <a:rPr lang="en-US" smtClean="0"/>
              <a:t>‹#›</a:t>
            </a:fld>
            <a:endParaRPr lang="en-US"/>
          </a:p>
        </p:txBody>
      </p:sp>
    </p:spTree>
    <p:extLst>
      <p:ext uri="{BB962C8B-B14F-4D97-AF65-F5344CB8AC3E}">
        <p14:creationId xmlns:p14="http://schemas.microsoft.com/office/powerpoint/2010/main" val="3008527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D4068-34E2-DB9F-2359-55196E22F8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F6CA91-4CF3-07D6-98F4-B3EBF67E7B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9AB28B-044F-539E-BAF9-2A48CBDAA7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42DFB-F8C0-7540-8EDF-D48D87C2B67A}" type="datetimeFigureOut">
              <a:rPr lang="en-US" smtClean="0"/>
              <a:t>7/19/22</a:t>
            </a:fld>
            <a:endParaRPr lang="en-US"/>
          </a:p>
        </p:txBody>
      </p:sp>
      <p:sp>
        <p:nvSpPr>
          <p:cNvPr id="5" name="Footer Placeholder 4">
            <a:extLst>
              <a:ext uri="{FF2B5EF4-FFF2-40B4-BE49-F238E27FC236}">
                <a16:creationId xmlns:a16="http://schemas.microsoft.com/office/drawing/2014/main" id="{BB72A6B7-1173-A415-A10B-A808415A56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A169F1-3BB8-A60F-6F54-689BE0E551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71E411-7990-DD46-A30E-511389BB90F1}" type="slidenum">
              <a:rPr lang="en-US" smtClean="0"/>
              <a:t>‹#›</a:t>
            </a:fld>
            <a:endParaRPr lang="en-US"/>
          </a:p>
        </p:txBody>
      </p:sp>
    </p:spTree>
    <p:extLst>
      <p:ext uri="{BB962C8B-B14F-4D97-AF65-F5344CB8AC3E}">
        <p14:creationId xmlns:p14="http://schemas.microsoft.com/office/powerpoint/2010/main" val="866305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5CACE-B98F-CB55-1C69-FBFD9B3AFDA5}"/>
              </a:ext>
            </a:extLst>
          </p:cNvPr>
          <p:cNvSpPr>
            <a:spLocks noGrp="1"/>
          </p:cNvSpPr>
          <p:nvPr>
            <p:ph type="ctrTitle"/>
          </p:nvPr>
        </p:nvSpPr>
        <p:spPr/>
        <p:txBody>
          <a:bodyPr>
            <a:noAutofit/>
          </a:bodyPr>
          <a:lstStyle/>
          <a:p>
            <a:r>
              <a:rPr lang="en-US" sz="4400" i="1" dirty="0"/>
              <a:t>Are language features associated with psychosis risk universal? A study in Mandarin-speaking youths at clinical high risk for psychosis</a:t>
            </a:r>
            <a:r>
              <a:rPr lang="en-US" sz="4400" dirty="0">
                <a:effectLst/>
              </a:rPr>
              <a:t> – WP 2022</a:t>
            </a:r>
            <a:endParaRPr lang="en-US" sz="4400" dirty="0"/>
          </a:p>
        </p:txBody>
      </p:sp>
      <p:sp>
        <p:nvSpPr>
          <p:cNvPr id="3" name="Subtitle 2">
            <a:extLst>
              <a:ext uri="{FF2B5EF4-FFF2-40B4-BE49-F238E27FC236}">
                <a16:creationId xmlns:a16="http://schemas.microsoft.com/office/drawing/2014/main" id="{5CD56187-6766-F09F-FEA3-694865532C59}"/>
              </a:ext>
            </a:extLst>
          </p:cNvPr>
          <p:cNvSpPr>
            <a:spLocks noGrp="1"/>
          </p:cNvSpPr>
          <p:nvPr>
            <p:ph type="subTitle" idx="1"/>
          </p:nvPr>
        </p:nvSpPr>
        <p:spPr/>
        <p:txBody>
          <a:bodyPr>
            <a:normAutofit/>
          </a:bodyPr>
          <a:lstStyle/>
          <a:p>
            <a:r>
              <a:rPr lang="en-US" sz="4400" dirty="0"/>
              <a:t>Results</a:t>
            </a:r>
          </a:p>
        </p:txBody>
      </p:sp>
    </p:spTree>
    <p:extLst>
      <p:ext uri="{BB962C8B-B14F-4D97-AF65-F5344CB8AC3E}">
        <p14:creationId xmlns:p14="http://schemas.microsoft.com/office/powerpoint/2010/main" val="3238486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31AF1A-D401-AE3C-66C5-C05E23C42E68}"/>
              </a:ext>
            </a:extLst>
          </p:cNvPr>
          <p:cNvGraphicFramePr>
            <a:graphicFrameLocks noGrp="1"/>
          </p:cNvGraphicFramePr>
          <p:nvPr>
            <p:extLst>
              <p:ext uri="{D42A27DB-BD31-4B8C-83A1-F6EECF244321}">
                <p14:modId xmlns:p14="http://schemas.microsoft.com/office/powerpoint/2010/main" val="1398547984"/>
              </p:ext>
            </p:extLst>
          </p:nvPr>
        </p:nvGraphicFramePr>
        <p:xfrm>
          <a:off x="114301" y="2013108"/>
          <a:ext cx="11544300" cy="3352800"/>
        </p:xfrm>
        <a:graphic>
          <a:graphicData uri="http://schemas.openxmlformats.org/drawingml/2006/table">
            <a:tbl>
              <a:tblPr firstRow="1" firstCol="1" bandRow="1">
                <a:tableStyleId>{5C22544A-7EE6-4342-B048-85BDC9FD1C3A}</a:tableStyleId>
              </a:tblPr>
              <a:tblGrid>
                <a:gridCol w="1176203">
                  <a:extLst>
                    <a:ext uri="{9D8B030D-6E8A-4147-A177-3AD203B41FA5}">
                      <a16:colId xmlns:a16="http://schemas.microsoft.com/office/drawing/2014/main" val="34219196"/>
                    </a:ext>
                  </a:extLst>
                </a:gridCol>
                <a:gridCol w="1488325">
                  <a:extLst>
                    <a:ext uri="{9D8B030D-6E8A-4147-A177-3AD203B41FA5}">
                      <a16:colId xmlns:a16="http://schemas.microsoft.com/office/drawing/2014/main" val="619652212"/>
                    </a:ext>
                  </a:extLst>
                </a:gridCol>
                <a:gridCol w="153933">
                  <a:extLst>
                    <a:ext uri="{9D8B030D-6E8A-4147-A177-3AD203B41FA5}">
                      <a16:colId xmlns:a16="http://schemas.microsoft.com/office/drawing/2014/main" val="3035419690"/>
                    </a:ext>
                  </a:extLst>
                </a:gridCol>
                <a:gridCol w="3827123">
                  <a:extLst>
                    <a:ext uri="{9D8B030D-6E8A-4147-A177-3AD203B41FA5}">
                      <a16:colId xmlns:a16="http://schemas.microsoft.com/office/drawing/2014/main" val="1022974520"/>
                    </a:ext>
                  </a:extLst>
                </a:gridCol>
                <a:gridCol w="2449358">
                  <a:extLst>
                    <a:ext uri="{9D8B030D-6E8A-4147-A177-3AD203B41FA5}">
                      <a16:colId xmlns:a16="http://schemas.microsoft.com/office/drawing/2014/main" val="3173762142"/>
                    </a:ext>
                  </a:extLst>
                </a:gridCol>
                <a:gridCol w="2449358">
                  <a:extLst>
                    <a:ext uri="{9D8B030D-6E8A-4147-A177-3AD203B41FA5}">
                      <a16:colId xmlns:a16="http://schemas.microsoft.com/office/drawing/2014/main" val="305178984"/>
                    </a:ext>
                  </a:extLst>
                </a:gridCol>
              </a:tblGrid>
              <a:tr h="162560">
                <a:tc>
                  <a:txBody>
                    <a:bodyPr/>
                    <a:lstStyle/>
                    <a:p>
                      <a:pPr marL="0" marR="0" algn="just">
                        <a:spcBef>
                          <a:spcPts val="0"/>
                        </a:spcBef>
                        <a:spcAft>
                          <a:spcPts val="0"/>
                        </a:spcAft>
                      </a:pPr>
                      <a:r>
                        <a:rPr lang="en-US" sz="2000">
                          <a:effectLst/>
                        </a:rPr>
                        <a:t> </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Category</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2000">
                          <a:effectLst/>
                        </a:rPr>
                        <a:t>CHR</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Healthy Controls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Statistics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91192832"/>
                  </a:ext>
                </a:extLst>
              </a:tr>
              <a:tr h="148590">
                <a:tc rowSpan="4">
                  <a:txBody>
                    <a:bodyPr/>
                    <a:lstStyle/>
                    <a:p>
                      <a:pPr marL="0" marR="0" algn="ctr">
                        <a:spcBef>
                          <a:spcPts val="0"/>
                        </a:spcBef>
                        <a:spcAft>
                          <a:spcPts val="0"/>
                        </a:spcAft>
                      </a:pPr>
                      <a:r>
                        <a:rPr lang="en-US" sz="2000" dirty="0">
                          <a:effectLst/>
                        </a:rPr>
                        <a:t>Demographics</a:t>
                      </a:r>
                      <a:endParaRPr lang="en-US" sz="32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gridSpan="2">
                  <a:txBody>
                    <a:bodyPr/>
                    <a:lstStyle/>
                    <a:p>
                      <a:pPr marL="0" marR="0" algn="ctr">
                        <a:spcBef>
                          <a:spcPts val="0"/>
                        </a:spcBef>
                        <a:spcAft>
                          <a:spcPts val="0"/>
                        </a:spcAft>
                      </a:pPr>
                      <a:r>
                        <a:rPr lang="en-US" sz="2000">
                          <a:effectLst/>
                        </a:rPr>
                        <a:t>Sex</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20 (11 females)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25 (12 females)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Chi-Square: 0.22, p=0.64</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5660651"/>
                  </a:ext>
                </a:extLst>
              </a:tr>
              <a:tr h="139065">
                <a:tc vMerge="1">
                  <a:txBody>
                    <a:bodyPr/>
                    <a:lstStyle/>
                    <a:p>
                      <a:endParaRPr lang="en-US"/>
                    </a:p>
                  </a:txBody>
                  <a:tcPr/>
                </a:tc>
                <a:tc gridSpan="2">
                  <a:txBody>
                    <a:bodyPr/>
                    <a:lstStyle/>
                    <a:p>
                      <a:pPr marL="0" marR="0" algn="ctr">
                        <a:spcBef>
                          <a:spcPts val="0"/>
                        </a:spcBef>
                        <a:spcAft>
                          <a:spcPts val="0"/>
                        </a:spcAft>
                      </a:pPr>
                      <a:r>
                        <a:rPr lang="en-US" sz="2000">
                          <a:effectLst/>
                        </a:rPr>
                        <a:t>Age</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19.6 +/- 6.4</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24.9 +/- 1.9</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KS-test: 0.75, p=1E-6</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03019196"/>
                  </a:ext>
                </a:extLst>
              </a:tr>
              <a:tr h="139065">
                <a:tc vMerge="1">
                  <a:txBody>
                    <a:bodyPr/>
                    <a:lstStyle/>
                    <a:p>
                      <a:endParaRPr lang="en-US"/>
                    </a:p>
                  </a:txBody>
                  <a:tcPr/>
                </a:tc>
                <a:tc gridSpan="2">
                  <a:txBody>
                    <a:bodyPr/>
                    <a:lstStyle/>
                    <a:p>
                      <a:pPr marL="0" marR="0" algn="ctr">
                        <a:spcBef>
                          <a:spcPts val="0"/>
                        </a:spcBef>
                        <a:spcAft>
                          <a:spcPts val="0"/>
                        </a:spcAft>
                      </a:pPr>
                      <a:r>
                        <a:rPr lang="en-US" sz="2000">
                          <a:effectLst/>
                        </a:rPr>
                        <a:t>Race</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100% Chinese</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100% Chinese</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6804960"/>
                  </a:ext>
                </a:extLst>
              </a:tr>
              <a:tr h="181610">
                <a:tc vMerge="1">
                  <a:txBody>
                    <a:bodyPr/>
                    <a:lstStyle/>
                    <a:p>
                      <a:endParaRPr lang="en-US"/>
                    </a:p>
                  </a:txBody>
                  <a:tcPr/>
                </a:tc>
                <a:tc gridSpan="2">
                  <a:txBody>
                    <a:bodyPr/>
                    <a:lstStyle/>
                    <a:p>
                      <a:pPr marL="0" marR="0" algn="ctr">
                        <a:spcBef>
                          <a:spcPts val="0"/>
                        </a:spcBef>
                        <a:spcAft>
                          <a:spcPts val="0"/>
                        </a:spcAft>
                      </a:pPr>
                      <a:r>
                        <a:rPr lang="en-US" sz="2000">
                          <a:effectLst/>
                        </a:rPr>
                        <a:t>Education in years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11.4 +/- 4.0</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16.7 +/- 1.4</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000">
                          <a:effectLst/>
                        </a:rPr>
                        <a:t>KS-test: 0.7, p=1E-5</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76749853"/>
                  </a:ext>
                </a:extLst>
              </a:tr>
              <a:tr h="193675">
                <a:tc rowSpan="2">
                  <a:txBody>
                    <a:bodyPr/>
                    <a:lstStyle/>
                    <a:p>
                      <a:pPr marL="0" marR="0" algn="ctr">
                        <a:spcBef>
                          <a:spcPts val="0"/>
                        </a:spcBef>
                        <a:spcAft>
                          <a:spcPts val="0"/>
                        </a:spcAft>
                      </a:pPr>
                      <a:r>
                        <a:rPr lang="en-US" sz="2000">
                          <a:effectLst/>
                        </a:rPr>
                        <a:t>SIPS/SOPS</a:t>
                      </a:r>
                      <a:endParaRPr lang="en-US" sz="3200">
                        <a:effectLst/>
                      </a:endParaRPr>
                    </a:p>
                    <a:p>
                      <a:pPr marL="0" marR="0" algn="ctr">
                        <a:spcBef>
                          <a:spcPts val="0"/>
                        </a:spcBef>
                        <a:spcAft>
                          <a:spcPts val="0"/>
                        </a:spcAft>
                      </a:pPr>
                      <a:r>
                        <a:rPr lang="en-US" sz="2000">
                          <a:effectLst/>
                        </a:rPr>
                        <a:t>scores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tc>
                <a:tc gridSpan="2">
                  <a:txBody>
                    <a:bodyPr/>
                    <a:lstStyle/>
                    <a:p>
                      <a:pPr marL="0" marR="0" algn="ctr">
                        <a:spcBef>
                          <a:spcPts val="0"/>
                        </a:spcBef>
                        <a:spcAft>
                          <a:spcPts val="0"/>
                        </a:spcAft>
                      </a:pPr>
                      <a:r>
                        <a:rPr lang="en-US" sz="2000">
                          <a:effectLst/>
                        </a:rPr>
                        <a:t>Negative Symptoms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10.2 +/- 5.4</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r>
                        <a:rPr lang="en-US" sz="2000">
                          <a:effectLst/>
                        </a:rPr>
                        <a:t>--</a:t>
                      </a:r>
                      <a:endParaRPr lang="en-US"/>
                    </a:p>
                  </a:txBody>
                  <a:tcPr marL="68580" marR="68580" marT="0" marB="0"/>
                </a:tc>
                <a:tc>
                  <a:txBody>
                    <a:bodyPr/>
                    <a:lstStyle/>
                    <a:p>
                      <a:pPr marL="0" marR="0" algn="ctr">
                        <a:spcBef>
                          <a:spcPts val="0"/>
                        </a:spcBef>
                        <a:spcAft>
                          <a:spcPts val="0"/>
                        </a:spcAft>
                      </a:pPr>
                      <a:r>
                        <a:rPr lang="en-US" sz="2000">
                          <a:effectLst/>
                        </a:rPr>
                        <a:t>--</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3795866"/>
                  </a:ext>
                </a:extLst>
              </a:tr>
              <a:tr h="151765">
                <a:tc vMerge="1">
                  <a:txBody>
                    <a:bodyPr/>
                    <a:lstStyle/>
                    <a:p>
                      <a:endParaRPr lang="en-US"/>
                    </a:p>
                  </a:txBody>
                  <a:tcPr/>
                </a:tc>
                <a:tc gridSpan="2">
                  <a:txBody>
                    <a:bodyPr/>
                    <a:lstStyle/>
                    <a:p>
                      <a:pPr marL="0" marR="0" algn="ctr">
                        <a:spcBef>
                          <a:spcPts val="0"/>
                        </a:spcBef>
                        <a:spcAft>
                          <a:spcPts val="0"/>
                        </a:spcAft>
                      </a:pPr>
                      <a:r>
                        <a:rPr lang="en-US" sz="2000">
                          <a:effectLst/>
                        </a:rPr>
                        <a:t>Positive Symptoms</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hMerge="1">
                  <a:txBody>
                    <a:bodyPr/>
                    <a:lstStyle/>
                    <a:p>
                      <a:endParaRPr lang="en-US"/>
                    </a:p>
                  </a:txBody>
                  <a:tcPr/>
                </a:tc>
                <a:tc>
                  <a:txBody>
                    <a:bodyPr/>
                    <a:lstStyle/>
                    <a:p>
                      <a:pPr marL="0" marR="0" algn="ctr">
                        <a:spcBef>
                          <a:spcPts val="0"/>
                        </a:spcBef>
                        <a:spcAft>
                          <a:spcPts val="0"/>
                        </a:spcAft>
                      </a:pPr>
                      <a:r>
                        <a:rPr lang="en-US" sz="2000">
                          <a:effectLst/>
                        </a:rPr>
                        <a:t>9.1 +/- 4.0</a:t>
                      </a:r>
                      <a:endParaRPr lang="en-US" sz="320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tc>
                  <a:txBody>
                    <a:bodyPr/>
                    <a:lstStyle/>
                    <a:p>
                      <a:r>
                        <a:rPr lang="en-US" sz="2000" dirty="0">
                          <a:effectLst/>
                        </a:rPr>
                        <a:t>--</a:t>
                      </a:r>
                      <a:endParaRPr lang="en-US" dirty="0"/>
                    </a:p>
                  </a:txBody>
                  <a:tcPr marL="68580" marR="68580" marT="0" marB="0"/>
                </a:tc>
                <a:tc>
                  <a:txBody>
                    <a:bodyPr/>
                    <a:lstStyle/>
                    <a:p>
                      <a:pPr marL="0" marR="0" algn="ctr">
                        <a:spcBef>
                          <a:spcPts val="0"/>
                        </a:spcBef>
                        <a:spcAft>
                          <a:spcPts val="0"/>
                        </a:spcAft>
                      </a:pPr>
                      <a:r>
                        <a:rPr lang="en-US" sz="2000" dirty="0">
                          <a:effectLst/>
                        </a:rPr>
                        <a:t>--</a:t>
                      </a:r>
                      <a:endParaRPr lang="en-US" sz="3200" dirty="0">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3697093"/>
                  </a:ext>
                </a:extLst>
              </a:tr>
            </a:tbl>
          </a:graphicData>
        </a:graphic>
      </p:graphicFrame>
      <p:sp>
        <p:nvSpPr>
          <p:cNvPr id="3" name="Rectangle 1">
            <a:extLst>
              <a:ext uri="{FF2B5EF4-FFF2-40B4-BE49-F238E27FC236}">
                <a16:creationId xmlns:a16="http://schemas.microsoft.com/office/drawing/2014/main" id="{798F01D1-2A6E-BF68-DE97-D7C6EB182011}"/>
              </a:ext>
            </a:extLst>
          </p:cNvPr>
          <p:cNvSpPr>
            <a:spLocks noChangeArrowheads="1"/>
          </p:cNvSpPr>
          <p:nvPr/>
        </p:nvSpPr>
        <p:spPr bwMode="auto">
          <a:xfrm>
            <a:off x="1343026" y="608043"/>
            <a:ext cx="741743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000000"/>
                </a:solidFill>
                <a:effectLst/>
                <a:latin typeface="Calibri" panose="020F0502020204030204" pitchFamily="34" charset="0"/>
                <a:ea typeface="Times New Roman" panose="02020603050405020304" pitchFamily="18" charset="0"/>
              </a:rPr>
              <a:t>Participants</a:t>
            </a:r>
            <a:endParaRPr kumimoji="0" lang="en-US" altLang="en-US" sz="1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00000"/>
                </a:solidFill>
                <a:effectLst/>
                <a:latin typeface="Times New Roman" panose="02020603050405020304" pitchFamily="18" charset="0"/>
                <a:ea typeface="SimSun" panose="02010600030101010101" pitchFamily="2" charset="-122"/>
              </a:rPr>
              <a:t>Table 1. Demographics and clinical variables of the cohorts.</a:t>
            </a:r>
            <a:endParaRPr kumimoji="0" lang="en-US" altLang="en-US" sz="3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08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6C9A2D0C-92B7-9110-0E5F-FA640B0C4AEB}"/>
              </a:ext>
            </a:extLst>
          </p:cNvPr>
          <p:cNvSpPr>
            <a:spLocks noChangeArrowheads="1"/>
          </p:cNvSpPr>
          <p:nvPr/>
        </p:nvSpPr>
        <p:spPr bwMode="auto">
          <a:xfrm>
            <a:off x="2977511" y="438525"/>
            <a:ext cx="623697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ea typeface="SimSun" panose="02010600030101010101" pitchFamily="2" charset="-122"/>
              </a:rPr>
              <a:t>Table 2. Summary of the extracted features for the analysis</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4" name="Picture 1">
            <a:extLst>
              <a:ext uri="{FF2B5EF4-FFF2-40B4-BE49-F238E27FC236}">
                <a16:creationId xmlns:a16="http://schemas.microsoft.com/office/drawing/2014/main" id="{071F7D43-4B2B-90D3-88C6-DB8487A40D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255" t="40994" r="10793"/>
          <a:stretch/>
        </p:blipFill>
        <p:spPr bwMode="auto">
          <a:xfrm>
            <a:off x="665978" y="1071563"/>
            <a:ext cx="11125270" cy="5347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5411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6">
            <a:extLst>
              <a:ext uri="{FF2B5EF4-FFF2-40B4-BE49-F238E27FC236}">
                <a16:creationId xmlns:a16="http://schemas.microsoft.com/office/drawing/2014/main" id="{1D5BEE57-7D4D-9538-3661-9199EEA5B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1031359"/>
            <a:ext cx="9626600" cy="3251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2C265747-C75A-DB29-88AF-791F88BA0802}"/>
              </a:ext>
            </a:extLst>
          </p:cNvPr>
          <p:cNvSpPr>
            <a:spLocks noChangeArrowheads="1"/>
          </p:cNvSpPr>
          <p:nvPr/>
        </p:nvSpPr>
        <p:spPr bwMode="auto">
          <a:xfrm>
            <a:off x="1630629" y="4517423"/>
            <a:ext cx="927867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u="none" strike="noStrike" cap="none" normalizeH="0" baseline="0" dirty="0">
                <a:ln>
                  <a:noFill/>
                </a:ln>
                <a:solidFill>
                  <a:srgbClr val="000000"/>
                </a:solidFill>
                <a:effectLst/>
                <a:latin typeface="Calibri" panose="020F0502020204030204" pitchFamily="34" charset="0"/>
                <a:ea typeface="SimSun" panose="02010600030101010101" pitchFamily="2" charset="-122"/>
              </a:rPr>
              <a:t>Figure 1 Classification performance results. Bars indicate the mean performance value and error bars indicates the 95% confidence interval across 20 runs. Accuracy and AUC values are shown in the left and right side, respectively. Different shades of bar are used to indicate the type of feature used in the model.</a:t>
            </a:r>
            <a:endParaRPr kumimoji="0" lang="en-US" altLang="en-US" sz="4400" b="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0192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7" name="Picture 1">
            <a:extLst>
              <a:ext uri="{FF2B5EF4-FFF2-40B4-BE49-F238E27FC236}">
                <a16:creationId xmlns:a16="http://schemas.microsoft.com/office/drawing/2014/main" id="{1B92DE85-EE91-271E-FAD7-F9B1C4540C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7968"/>
          <a:stretch/>
        </p:blipFill>
        <p:spPr bwMode="auto">
          <a:xfrm>
            <a:off x="138113" y="325500"/>
            <a:ext cx="11778147" cy="3103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CFDFD617-3223-1B3B-DECA-1A46BB80D7D8}"/>
              </a:ext>
            </a:extLst>
          </p:cNvPr>
          <p:cNvSpPr>
            <a:spLocks noChangeArrowheads="1"/>
          </p:cNvSpPr>
          <p:nvPr/>
        </p:nvSpPr>
        <p:spPr bwMode="auto">
          <a:xfrm>
            <a:off x="276226" y="3805773"/>
            <a:ext cx="119157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u="none" strike="noStrike" cap="none" normalizeH="0" baseline="0" dirty="0">
                <a:ln>
                  <a:noFill/>
                </a:ln>
                <a:solidFill>
                  <a:srgbClr val="000000"/>
                </a:solidFill>
                <a:effectLst/>
                <a:latin typeface="Calibri" panose="020F0502020204030204" pitchFamily="34" charset="0"/>
                <a:ea typeface="SimSun" panose="02010600030101010101" pitchFamily="2" charset="-122"/>
              </a:rPr>
              <a:t>Figure 2 Top 5 relevant features of best models for each type of feature. Features were selected based on the normalized weight of only Linear SVM models. Bars indicate the mean normalized weight value and error bars indicates the 95% confidence interval across 20 runs for the Linear SVM models. Positive weights indicate that feature values are higher for CHR, and negative weights indicate that the feature values are higher for HC. a) Results of only using acoustic features in the models, b) Results of only using English-based linguistic features in the models, and c) Results of only using Mandarin-based linguistic features in the models,.</a:t>
            </a:r>
            <a:endParaRPr kumimoji="0" lang="en-US" altLang="en-US" sz="4000" b="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71139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4" descr="Chart, scatter chart&#10;&#10;Description automatically generated">
            <a:extLst>
              <a:ext uri="{FF2B5EF4-FFF2-40B4-BE49-F238E27FC236}">
                <a16:creationId xmlns:a16="http://schemas.microsoft.com/office/drawing/2014/main" id="{FCAF9992-DD87-3DBF-7624-33EDAC690D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11" y="774129"/>
            <a:ext cx="11931777" cy="30692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9C62899C-0127-4192-D738-8279B2260151}"/>
              </a:ext>
            </a:extLst>
          </p:cNvPr>
          <p:cNvSpPr>
            <a:spLocks noChangeArrowheads="1"/>
          </p:cNvSpPr>
          <p:nvPr/>
        </p:nvSpPr>
        <p:spPr bwMode="auto">
          <a:xfrm>
            <a:off x="628649" y="4703356"/>
            <a:ext cx="106584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u="none" strike="noStrike" cap="none" normalizeH="0" baseline="0" dirty="0">
                <a:ln>
                  <a:noFill/>
                </a:ln>
                <a:solidFill>
                  <a:srgbClr val="000000"/>
                </a:solidFill>
                <a:effectLst/>
                <a:latin typeface="Calibri" panose="020F0502020204030204" pitchFamily="34" charset="0"/>
                <a:ea typeface="SimSun" panose="02010600030101010101" pitchFamily="2" charset="-122"/>
              </a:rPr>
              <a:t>Figure 3 Comparison between relevant features of English-based and Mandarin-based linguistic features. a) Heatmap of the correlation between both types of features, b) Comparison between both types of features of coherence Q-A (robust minimum), and c) Comparison between predicative-adjective and adjective.</a:t>
            </a:r>
            <a:endParaRPr kumimoji="0" lang="en-US" altLang="en-US" sz="4000" b="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1858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5086ABD-A292-2564-1BAB-8F3C4D72A33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6145" name="Picture 5" descr="Chart, scatter chart&#10;&#10;Description automatically generated">
            <a:extLst>
              <a:ext uri="{FF2B5EF4-FFF2-40B4-BE49-F238E27FC236}">
                <a16:creationId xmlns:a16="http://schemas.microsoft.com/office/drawing/2014/main" id="{C58A784B-40C9-6B9A-2306-DBE825ECF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542" y="228600"/>
            <a:ext cx="10602916" cy="53312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77BFCC41-1945-689D-E49A-637FC2B338FE}"/>
              </a:ext>
            </a:extLst>
          </p:cNvPr>
          <p:cNvSpPr>
            <a:spLocks noChangeArrowheads="1"/>
          </p:cNvSpPr>
          <p:nvPr/>
        </p:nvSpPr>
        <p:spPr bwMode="auto">
          <a:xfrm>
            <a:off x="257176" y="5636217"/>
            <a:ext cx="1091810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00" b="0" u="none" strike="noStrike" cap="none" normalizeH="0" baseline="0">
                <a:ln>
                  <a:noFill/>
                </a:ln>
                <a:solidFill>
                  <a:srgbClr val="44546A"/>
                </a:solidFill>
                <a:effectLst/>
                <a:latin typeface="Calibri" panose="020F0502020204030204" pitchFamily="34" charset="0"/>
                <a:ea typeface="SimSun" panose="02010600030101010101" pitchFamily="2" charset="-122"/>
              </a:rPr>
              <a:t>Figure 4 Regression results for acoustic features. a) Performance of the cross-validated models using 3 different machine learning algorithms. b) Relevant features to infer positive symptoms score used in the best model (Lasso). Note that features were corrected by age and education years so values are also shifted to negative values. c) Top features to infer negative symptoms used in the best model (Linear Regression).</a:t>
            </a:r>
            <a:endParaRPr kumimoji="0" lang="en-US" altLang="en-US" sz="4000" b="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0191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426</Words>
  <Application>Microsoft Macintosh PowerPoint</Application>
  <PresentationFormat>Widescreen</PresentationFormat>
  <Paragraphs>41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Are language features associated with psychosis risk universal? A study in Mandarin-speaking youths at clinical high risk for psychosis – WP 2022</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 language features associated with psychosis risk universal? A study in Mandarin-speaking youths at clinical high risk for psychosis – WP 2022</dc:title>
  <dc:creator>Microsoft Office User</dc:creator>
  <cp:lastModifiedBy>Microsoft Office User</cp:lastModifiedBy>
  <cp:revision>2</cp:revision>
  <dcterms:created xsi:type="dcterms:W3CDTF">2022-07-19T12:42:02Z</dcterms:created>
  <dcterms:modified xsi:type="dcterms:W3CDTF">2022-07-19T12:55:22Z</dcterms:modified>
</cp:coreProperties>
</file>